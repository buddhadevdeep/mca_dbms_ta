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9" r:id="rId1"/>
  </p:sldMasterIdLst>
  <p:notesMasterIdLst>
    <p:notesMasterId r:id="rId13"/>
  </p:notesMasterIdLst>
  <p:sldIdLst>
    <p:sldId id="830" r:id="rId2"/>
    <p:sldId id="831" r:id="rId3"/>
    <p:sldId id="832" r:id="rId4"/>
    <p:sldId id="833" r:id="rId5"/>
    <p:sldId id="834" r:id="rId6"/>
    <p:sldId id="835" r:id="rId7"/>
    <p:sldId id="836" r:id="rId8"/>
    <p:sldId id="837" r:id="rId9"/>
    <p:sldId id="838" r:id="rId10"/>
    <p:sldId id="839" r:id="rId11"/>
    <p:sldId id="840" r:id="rId12"/>
  </p:sldIdLst>
  <p:sldSz cx="12192000" cy="6858000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Roboto Condensed" panose="02000000000000000000" pitchFamily="2" charset="0"/>
      <p:regular r:id="rId18"/>
      <p:bold r:id="rId19"/>
      <p:italic r:id="rId20"/>
      <p:boldItalic r:id="rId21"/>
    </p:embeddedFont>
    <p:embeddedFont>
      <p:font typeface="Roboto Condensed Light" panose="02000000000000000000" pitchFamily="2" charset="0"/>
      <p:regular r:id="rId22"/>
      <p:italic r:id="rId23"/>
    </p:embeddedFont>
    <p:embeddedFont>
      <p:font typeface="Wingdings 3" panose="05040102010807070707" pitchFamily="18" charset="2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xita kagathara" initials="dk" lastIdx="1" clrIdx="0">
    <p:extLst>
      <p:ext uri="{19B8F6BF-5375-455C-9EA6-DF929625EA0E}">
        <p15:presenceInfo xmlns:p15="http://schemas.microsoft.com/office/powerpoint/2012/main" userId="dixita kagatha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7A1"/>
    <a:srgbClr val="D81A60"/>
    <a:srgbClr val="0D4991"/>
    <a:srgbClr val="B71B1C"/>
    <a:srgbClr val="0972C6"/>
    <a:srgbClr val="E8D9F3"/>
    <a:srgbClr val="B686DA"/>
    <a:srgbClr val="300D57"/>
    <a:srgbClr val="EF7DA6"/>
    <a:srgbClr val="301B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5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microsoft.com/office/2007/relationships/hdphoto" Target="../media/hdphoto3.wdp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8961EB9-3BA2-B72E-11E5-1A931889B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0DEB5720-D7D2-E534-6A95-3F68C348A0F5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Firoz A. Sherasiya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E06FF1E9-4036-F487-8AFE-05153E4A3963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#2605CS101 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SQL Views, Joins</a:t>
            </a:r>
          </a:p>
        </p:txBody>
      </p:sp>
    </p:spTree>
    <p:extLst>
      <p:ext uri="{BB962C8B-B14F-4D97-AF65-F5344CB8AC3E}">
        <p14:creationId xmlns:p14="http://schemas.microsoft.com/office/powerpoint/2010/main" val="3096736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Firoz A. Sherasiya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85968E-5769-B4EE-68D6-24E5D0D3C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907A96-9207-6FDA-B923-3BF8B0C64B74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#2605CS101 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SQL Views, Joins</a:t>
            </a:r>
          </a:p>
        </p:txBody>
      </p:sp>
    </p:spTree>
    <p:extLst>
      <p:ext uri="{BB962C8B-B14F-4D97-AF65-F5344CB8AC3E}">
        <p14:creationId xmlns:p14="http://schemas.microsoft.com/office/powerpoint/2010/main" val="2082748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 C. Padaliya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F52789-B056-877D-995D-1DAB6C50D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A91D39-9A10-64AD-A167-7258C69E9909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#2501CS302 (T-SQL Querying)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SQL Views, Joins</a:t>
            </a:r>
          </a:p>
        </p:txBody>
      </p:sp>
    </p:spTree>
    <p:extLst>
      <p:ext uri="{BB962C8B-B14F-4D97-AF65-F5344CB8AC3E}">
        <p14:creationId xmlns:p14="http://schemas.microsoft.com/office/powerpoint/2010/main" val="3941258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reeform 17">
            <a:extLst>
              <a:ext uri="{FF2B5EF4-FFF2-40B4-BE49-F238E27FC236}">
                <a16:creationId xmlns:a16="http://schemas.microsoft.com/office/drawing/2014/main" id="{830E9B56-6CD2-0324-CBA9-D4D9040D1D12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BE67A2A-C110-D13B-20C2-A9C8F8165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65973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 C. Padaliya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C07BBD1-A6AB-1B39-1406-A1449B1A4C17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#2501CS302 (T-SQL Querying)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SQL Views, Joins</a:t>
            </a:r>
          </a:p>
        </p:txBody>
      </p:sp>
    </p:spTree>
    <p:extLst>
      <p:ext uri="{BB962C8B-B14F-4D97-AF65-F5344CB8AC3E}">
        <p14:creationId xmlns:p14="http://schemas.microsoft.com/office/powerpoint/2010/main" val="3628365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 C. Padaliya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E452D7E-F84B-1894-DE0E-D3237EFEFCD8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#2501CS302 (T-SQL Querying)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SQL Views, Joins</a:t>
            </a:r>
          </a:p>
        </p:txBody>
      </p:sp>
    </p:spTree>
    <p:extLst>
      <p:ext uri="{BB962C8B-B14F-4D97-AF65-F5344CB8AC3E}">
        <p14:creationId xmlns:p14="http://schemas.microsoft.com/office/powerpoint/2010/main" val="1154741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727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7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02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77050">
                <a:srgbClr val="0690E0"/>
              </a:gs>
              <a:gs pos="10000">
                <a:srgbClr val="0E47A1"/>
              </a:gs>
              <a:gs pos="49425">
                <a:srgbClr val="0972C6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84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2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8" r:id="rId7"/>
    <p:sldLayoutId id="2147483729" r:id="rId8"/>
    <p:sldLayoutId id="2147483738" r:id="rId9"/>
    <p:sldLayoutId id="2147483716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microsoft.com/office/2007/relationships/hdphoto" Target="../media/hdphoto8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microsoft.com/office/2007/relationships/hdphoto" Target="../media/hdphoto7.wdp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&amp; Time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648191"/>
          </a:xfrm>
        </p:spPr>
        <p:txBody>
          <a:bodyPr/>
          <a:lstStyle/>
          <a:p>
            <a:r>
              <a:rPr lang="en-US" b="1" dirty="0"/>
              <a:t>SQL Server</a:t>
            </a:r>
            <a:r>
              <a:rPr lang="en-US" dirty="0"/>
              <a:t> comes with the following data types for storing a date or a date/time value in the database: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DATE</a:t>
            </a:r>
            <a:r>
              <a:rPr lang="en-US" dirty="0"/>
              <a:t>– format YYYY-MM-DD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DATETIME</a:t>
            </a:r>
            <a:r>
              <a:rPr lang="en-US" dirty="0"/>
              <a:t> – format YYYY-MM-DD HH:MI:SS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SMALLDATETIME</a:t>
            </a:r>
            <a:r>
              <a:rPr lang="en-US" dirty="0"/>
              <a:t> – format: YYYY-MM-DD HH:MI:SS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TIMESTAMP</a:t>
            </a:r>
            <a:r>
              <a:rPr lang="en-US" dirty="0"/>
              <a:t> – format: a unique identifier</a:t>
            </a:r>
          </a:p>
          <a:p>
            <a:r>
              <a:rPr lang="en-US" dirty="0"/>
              <a:t>To retrieve current date time, we can use GETDATE():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512179" y="3836632"/>
            <a:ext cx="4201334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IN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IN" sz="16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IN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IN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CurrentDateTime</a:t>
            </a:r>
            <a:endParaRPr lang="en-IN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512179" y="3507448"/>
            <a:ext cx="18282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Current Date &amp; Time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512" y="3822712"/>
            <a:ext cx="2282595" cy="612000"/>
          </a:xfrm>
          <a:prstGeom prst="rect">
            <a:avLst/>
          </a:prstGeom>
        </p:spPr>
      </p:pic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5094512" y="3507448"/>
            <a:ext cx="76200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68493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nimBg="1"/>
      <p:bldP spid="11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119A4-733F-4E7B-9F9C-2C44E3B66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Date &amp; Time Functions</a:t>
            </a:r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308186" y="1339761"/>
          <a:ext cx="11765992" cy="7162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253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3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243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Date Functions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Return Value</a:t>
                      </a:r>
                      <a:r>
                        <a:rPr lang="en-US" b="1" u="none" baseline="0" dirty="0">
                          <a:solidFill>
                            <a:schemeClr val="tx1"/>
                          </a:solidFill>
                        </a:rPr>
                        <a:t> Data Type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108"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DAY </a:t>
                      </a:r>
                      <a:r>
                        <a:rPr lang="en-IN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(date or datetime)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day of the week for a given date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Integer like 1 - 31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308186" y="948368"/>
          <a:ext cx="3245719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245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List of SQL DATE Functions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7DF6A1-B4A1-DFA1-13CD-1F0F72702CF0}"/>
              </a:ext>
            </a:extLst>
          </p:cNvPr>
          <p:cNvGraphicFramePr>
            <a:graphicFrameLocks noGrp="1"/>
          </p:cNvGraphicFramePr>
          <p:nvPr/>
        </p:nvGraphicFramePr>
        <p:xfrm>
          <a:off x="308186" y="2056041"/>
          <a:ext cx="11765992" cy="350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253363">
                  <a:extLst>
                    <a:ext uri="{9D8B030D-6E8A-4147-A177-3AD203B41FA5}">
                      <a16:colId xmlns:a16="http://schemas.microsoft.com/office/drawing/2014/main" val="2414105014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190687775"/>
                    </a:ext>
                  </a:extLst>
                </a:gridCol>
                <a:gridCol w="2873829">
                  <a:extLst>
                    <a:ext uri="{9D8B030D-6E8A-4147-A177-3AD203B41FA5}">
                      <a16:colId xmlns:a16="http://schemas.microsoft.com/office/drawing/2014/main" val="3065887276"/>
                    </a:ext>
                  </a:extLst>
                </a:gridCol>
              </a:tblGrid>
              <a:tr h="348108">
                <a:tc>
                  <a:txBody>
                    <a:bodyPr/>
                    <a:lstStyle/>
                    <a:p>
                      <a:r>
                        <a:rPr lang="en-IN" sz="1700" kern="12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MONTH</a:t>
                      </a:r>
                      <a:r>
                        <a:rPr lang="en-IN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(date or datetime)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month of a given date</a:t>
                      </a:r>
                      <a:r>
                        <a:rPr lang="en-US" sz="1700" kern="1200" dirty="0"/>
                        <a:t> 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Integer like 1 - 12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48567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45F049-7333-5345-B437-4177C92FC915}"/>
              </a:ext>
            </a:extLst>
          </p:cNvPr>
          <p:cNvGraphicFramePr>
            <a:graphicFrameLocks noGrp="1"/>
          </p:cNvGraphicFramePr>
          <p:nvPr/>
        </p:nvGraphicFramePr>
        <p:xfrm>
          <a:off x="308186" y="2406561"/>
          <a:ext cx="11765992" cy="350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253363">
                  <a:extLst>
                    <a:ext uri="{9D8B030D-6E8A-4147-A177-3AD203B41FA5}">
                      <a16:colId xmlns:a16="http://schemas.microsoft.com/office/drawing/2014/main" val="182834662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1084912759"/>
                    </a:ext>
                  </a:extLst>
                </a:gridCol>
                <a:gridCol w="2873829">
                  <a:extLst>
                    <a:ext uri="{9D8B030D-6E8A-4147-A177-3AD203B41FA5}">
                      <a16:colId xmlns:a16="http://schemas.microsoft.com/office/drawing/2014/main" val="4068610606"/>
                    </a:ext>
                  </a:extLst>
                </a:gridCol>
              </a:tblGrid>
              <a:tr h="348108">
                <a:tc>
                  <a:txBody>
                    <a:bodyPr/>
                    <a:lstStyle/>
                    <a:p>
                      <a:r>
                        <a:rPr lang="en-IN" sz="1700" kern="12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YEAR</a:t>
                      </a:r>
                      <a:r>
                        <a:rPr lang="en-IN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(date or datetime)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year of a given date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Integer for year like 2021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79479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880C17-3C05-9BE7-DBCA-C09B2CF79C2A}"/>
              </a:ext>
            </a:extLst>
          </p:cNvPr>
          <p:cNvGraphicFramePr>
            <a:graphicFrameLocks noGrp="1"/>
          </p:cNvGraphicFramePr>
          <p:nvPr/>
        </p:nvGraphicFramePr>
        <p:xfrm>
          <a:off x="308186" y="2757081"/>
          <a:ext cx="11765992" cy="609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253363">
                  <a:extLst>
                    <a:ext uri="{9D8B030D-6E8A-4147-A177-3AD203B41FA5}">
                      <a16:colId xmlns:a16="http://schemas.microsoft.com/office/drawing/2014/main" val="1722068931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1990340677"/>
                    </a:ext>
                  </a:extLst>
                </a:gridCol>
                <a:gridCol w="2873829">
                  <a:extLst>
                    <a:ext uri="{9D8B030D-6E8A-4147-A177-3AD203B41FA5}">
                      <a16:colId xmlns:a16="http://schemas.microsoft.com/office/drawing/2014/main" val="4267089980"/>
                    </a:ext>
                  </a:extLst>
                </a:gridCol>
              </a:tblGrid>
              <a:tr h="605405">
                <a:tc>
                  <a:txBody>
                    <a:bodyPr/>
                    <a:lstStyle/>
                    <a:p>
                      <a:r>
                        <a:rPr lang="en-IN" sz="1700" kern="12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DATEPART</a:t>
                      </a:r>
                      <a:r>
                        <a:rPr lang="en-IN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(date part, date or datetime)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date part specified in </a:t>
                      </a:r>
                      <a:r>
                        <a:rPr lang="en-US" sz="17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format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Integer like 1 – 12 for month, 1 – 31 for day, or year like 2021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63354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C766DF2-6B07-5958-5FF5-65F1D34C9C30}"/>
              </a:ext>
            </a:extLst>
          </p:cNvPr>
          <p:cNvGraphicFramePr>
            <a:graphicFrameLocks noGrp="1"/>
          </p:cNvGraphicFramePr>
          <p:nvPr/>
        </p:nvGraphicFramePr>
        <p:xfrm>
          <a:off x="308186" y="3366681"/>
          <a:ext cx="11765992" cy="609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253363">
                  <a:extLst>
                    <a:ext uri="{9D8B030D-6E8A-4147-A177-3AD203B41FA5}">
                      <a16:colId xmlns:a16="http://schemas.microsoft.com/office/drawing/2014/main" val="2291368403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40026789"/>
                    </a:ext>
                  </a:extLst>
                </a:gridCol>
                <a:gridCol w="2873829">
                  <a:extLst>
                    <a:ext uri="{9D8B030D-6E8A-4147-A177-3AD203B41FA5}">
                      <a16:colId xmlns:a16="http://schemas.microsoft.com/office/drawing/2014/main" val="630440507"/>
                    </a:ext>
                  </a:extLst>
                </a:gridCol>
              </a:tblGrid>
              <a:tr h="605405">
                <a:tc>
                  <a:txBody>
                    <a:bodyPr/>
                    <a:lstStyle/>
                    <a:p>
                      <a:r>
                        <a:rPr lang="en-IN" sz="1700" kern="12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DATENAME</a:t>
                      </a:r>
                      <a:r>
                        <a:rPr lang="en-IN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(date part, date or datetime)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date part specified in character format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Character like April, May, ‘1’, ‘2’, ‘31’, ‘2020’, ‘2021’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04564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176FFE0-0823-A9EE-DC33-CDAD89A0DDBE}"/>
              </a:ext>
            </a:extLst>
          </p:cNvPr>
          <p:cNvGraphicFramePr>
            <a:graphicFrameLocks noGrp="1"/>
          </p:cNvGraphicFramePr>
          <p:nvPr/>
        </p:nvGraphicFramePr>
        <p:xfrm>
          <a:off x="308186" y="3976281"/>
          <a:ext cx="11765992" cy="609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253363">
                  <a:extLst>
                    <a:ext uri="{9D8B030D-6E8A-4147-A177-3AD203B41FA5}">
                      <a16:colId xmlns:a16="http://schemas.microsoft.com/office/drawing/2014/main" val="2345736139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834645638"/>
                    </a:ext>
                  </a:extLst>
                </a:gridCol>
                <a:gridCol w="2873829">
                  <a:extLst>
                    <a:ext uri="{9D8B030D-6E8A-4147-A177-3AD203B41FA5}">
                      <a16:colId xmlns:a16="http://schemas.microsoft.com/office/drawing/2014/main" val="4082545301"/>
                    </a:ext>
                  </a:extLst>
                </a:gridCol>
              </a:tblGrid>
              <a:tr h="605405">
                <a:tc>
                  <a:txBody>
                    <a:bodyPr/>
                    <a:lstStyle/>
                    <a:p>
                      <a:r>
                        <a:rPr lang="en-US" sz="1700" kern="12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EOMONTH</a:t>
                      </a:r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(date [,months to add)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last do of the month with an optional parameter to add months (+ or -).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Returns</a:t>
                      </a:r>
                      <a:r>
                        <a:rPr lang="en-US" sz="1700" baseline="0" dirty="0"/>
                        <a:t> end date of specified date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28447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2C06D17-CF8B-983B-3624-AE7530ACDF78}"/>
              </a:ext>
            </a:extLst>
          </p:cNvPr>
          <p:cNvGraphicFramePr>
            <a:graphicFrameLocks noGrp="1"/>
          </p:cNvGraphicFramePr>
          <p:nvPr/>
        </p:nvGraphicFramePr>
        <p:xfrm>
          <a:off x="308186" y="4585881"/>
          <a:ext cx="11765992" cy="609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253363">
                  <a:extLst>
                    <a:ext uri="{9D8B030D-6E8A-4147-A177-3AD203B41FA5}">
                      <a16:colId xmlns:a16="http://schemas.microsoft.com/office/drawing/2014/main" val="3222986287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118871988"/>
                    </a:ext>
                  </a:extLst>
                </a:gridCol>
                <a:gridCol w="2873829">
                  <a:extLst>
                    <a:ext uri="{9D8B030D-6E8A-4147-A177-3AD203B41FA5}">
                      <a16:colId xmlns:a16="http://schemas.microsoft.com/office/drawing/2014/main" val="1071128600"/>
                    </a:ext>
                  </a:extLst>
                </a:gridCol>
              </a:tblGrid>
              <a:tr h="605405">
                <a:tc>
                  <a:txBody>
                    <a:bodyPr/>
                    <a:lstStyle/>
                    <a:p>
                      <a:r>
                        <a:rPr lang="en-US" sz="1700" kern="12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DATEADD</a:t>
                      </a:r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(date part, units, date or datetime)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date math results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datetime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96211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86F4256-91A1-C7A0-8118-32471E0EDAF6}"/>
              </a:ext>
            </a:extLst>
          </p:cNvPr>
          <p:cNvGraphicFramePr>
            <a:graphicFrameLocks noGrp="1"/>
          </p:cNvGraphicFramePr>
          <p:nvPr/>
        </p:nvGraphicFramePr>
        <p:xfrm>
          <a:off x="308186" y="5195481"/>
          <a:ext cx="11765992" cy="609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253363">
                  <a:extLst>
                    <a:ext uri="{9D8B030D-6E8A-4147-A177-3AD203B41FA5}">
                      <a16:colId xmlns:a16="http://schemas.microsoft.com/office/drawing/2014/main" val="3029321278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570193047"/>
                    </a:ext>
                  </a:extLst>
                </a:gridCol>
                <a:gridCol w="2873829">
                  <a:extLst>
                    <a:ext uri="{9D8B030D-6E8A-4147-A177-3AD203B41FA5}">
                      <a16:colId xmlns:a16="http://schemas.microsoft.com/office/drawing/2014/main" val="2730194913"/>
                    </a:ext>
                  </a:extLst>
                </a:gridCol>
              </a:tblGrid>
              <a:tr h="605405">
                <a:tc>
                  <a:txBody>
                    <a:bodyPr/>
                    <a:lstStyle/>
                    <a:p>
                      <a:r>
                        <a:rPr lang="en-US" sz="1700" kern="12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DATEDIFF</a:t>
                      </a:r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(date part, start date, end date)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Give the difference between 2 dates in units specified by date part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Integer of date part units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58018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E69357A-2750-931B-CA35-7E19D4E8182D}"/>
              </a:ext>
            </a:extLst>
          </p:cNvPr>
          <p:cNvGraphicFramePr>
            <a:graphicFrameLocks noGrp="1"/>
          </p:cNvGraphicFramePr>
          <p:nvPr/>
        </p:nvGraphicFramePr>
        <p:xfrm>
          <a:off x="308186" y="5805081"/>
          <a:ext cx="11765992" cy="609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253363">
                  <a:extLst>
                    <a:ext uri="{9D8B030D-6E8A-4147-A177-3AD203B41FA5}">
                      <a16:colId xmlns:a16="http://schemas.microsoft.com/office/drawing/2014/main" val="219799296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149241725"/>
                    </a:ext>
                  </a:extLst>
                </a:gridCol>
                <a:gridCol w="2873829">
                  <a:extLst>
                    <a:ext uri="{9D8B030D-6E8A-4147-A177-3AD203B41FA5}">
                      <a16:colId xmlns:a16="http://schemas.microsoft.com/office/drawing/2014/main" val="3701442752"/>
                    </a:ext>
                  </a:extLst>
                </a:gridCol>
              </a:tblGrid>
              <a:tr h="605405">
                <a:tc>
                  <a:txBody>
                    <a:bodyPr/>
                    <a:lstStyle/>
                    <a:p>
                      <a:r>
                        <a:rPr lang="en-IN" sz="1700" kern="12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ISDATE</a:t>
                      </a:r>
                      <a:r>
                        <a:rPr lang="en-IN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(potential date string)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to validate a date string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1 if the string is a valid date or 0 if not a valid date.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45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89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&amp; Time Functions | DAY()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224485" y="4558975"/>
            <a:ext cx="634582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CurrentDateTime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DAY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[Day]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DAY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'20220101'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[Day]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DAY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'2022-07-14 15:46:19.277'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[Day]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224485" y="4229791"/>
            <a:ext cx="114244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 - 3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1179" y="855719"/>
            <a:ext cx="10251525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FF"/>
                </a:solidFill>
                <a:latin typeface="Consolas" panose="020B0609020204030204" pitchFamily="49" charset="0"/>
              </a:rPr>
              <a:t>DAY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()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: </a:t>
            </a:r>
            <a:r>
              <a:rPr lang="en-US" dirty="0"/>
              <a:t>The date function DAY </a:t>
            </a:r>
            <a:r>
              <a:rPr lang="en-US" b="1" dirty="0"/>
              <a:t>accepts a date, datetime, or valid date string </a:t>
            </a:r>
            <a:r>
              <a:rPr lang="en-US" dirty="0"/>
              <a:t>and returns the </a:t>
            </a:r>
            <a:r>
              <a:rPr lang="en-US" b="1" dirty="0">
                <a:solidFill>
                  <a:schemeClr val="tx2"/>
                </a:solidFill>
              </a:rPr>
              <a:t>Day part as an </a:t>
            </a:r>
          </a:p>
          <a:p>
            <a:pPr lvl="2"/>
            <a:r>
              <a:rPr lang="en-US" b="1" dirty="0">
                <a:solidFill>
                  <a:schemeClr val="tx2"/>
                </a:solidFill>
              </a:rPr>
              <a:t>    integer value</a:t>
            </a:r>
            <a:r>
              <a:rPr lang="en-US" dirty="0"/>
              <a:t>.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104257" y="4261165"/>
            <a:ext cx="7614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257" y="4590349"/>
            <a:ext cx="3550316" cy="61161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224485" y="2006529"/>
            <a:ext cx="634582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CurrentDateTime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DAY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[Day]</a:t>
            </a:r>
          </a:p>
        </p:txBody>
      </p:sp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224485" y="1677345"/>
            <a:ext cx="114244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 - 1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104257" y="1677345"/>
            <a:ext cx="7614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224485" y="3205053"/>
            <a:ext cx="634582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CurrentDateTime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DAY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'20220101'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[Day]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DAY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'2022-07-14 15:46:19.277'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[Day]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104257" y="2907243"/>
            <a:ext cx="7614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257" y="3257233"/>
            <a:ext cx="3151803" cy="6120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257" y="2037903"/>
            <a:ext cx="2520856" cy="612000"/>
          </a:xfrm>
          <a:prstGeom prst="rect">
            <a:avLst/>
          </a:prstGeom>
        </p:spPr>
      </p:pic>
      <p:sp>
        <p:nvSpPr>
          <p:cNvPr id="2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224485" y="2873107"/>
            <a:ext cx="114244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 - 2</a:t>
            </a:r>
          </a:p>
        </p:txBody>
      </p:sp>
    </p:spTree>
    <p:extLst>
      <p:ext uri="{BB962C8B-B14F-4D97-AF65-F5344CB8AC3E}">
        <p14:creationId xmlns:p14="http://schemas.microsoft.com/office/powerpoint/2010/main" val="273674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3" grpId="0"/>
      <p:bldP spid="14" grpId="0" animBg="1"/>
      <p:bldP spid="17" grpId="0" animBg="1"/>
      <p:bldP spid="18" grpId="0" animBg="1"/>
      <p:bldP spid="19" grpId="0" animBg="1"/>
      <p:bldP spid="21" grpId="0" animBg="1"/>
      <p:bldP spid="23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&amp; Time Functions | MONTH 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98460" y="4575022"/>
            <a:ext cx="6527765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CurrentDateTime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[Month]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'20220101'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[Month]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'2022-07-14 15:46:19.277'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[Month]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98461" y="4245838"/>
            <a:ext cx="114244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 - 3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1179" y="855719"/>
            <a:ext cx="10251525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()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: </a:t>
            </a:r>
            <a:r>
              <a:rPr lang="en-US" dirty="0"/>
              <a:t>The date function MONTH </a:t>
            </a:r>
            <a:r>
              <a:rPr lang="en-US" b="1" dirty="0"/>
              <a:t>accepts a date, datetime, or valid date string </a:t>
            </a:r>
            <a:r>
              <a:rPr lang="en-US" dirty="0"/>
              <a:t>and returns the </a:t>
            </a:r>
            <a:r>
              <a:rPr lang="en-US" b="1" dirty="0">
                <a:solidFill>
                  <a:schemeClr val="tx2"/>
                </a:solidFill>
              </a:rPr>
              <a:t>Month 		         part as an integer value</a:t>
            </a:r>
            <a:r>
              <a:rPr lang="en-US" dirty="0"/>
              <a:t>.</a:t>
            </a:r>
            <a:endParaRPr lang="en-IN" dirty="0">
              <a:solidFill>
                <a:srgbClr val="80808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078233" y="4277212"/>
            <a:ext cx="7614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98460" y="2022576"/>
            <a:ext cx="6527767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CurrentDateTime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[Month]</a:t>
            </a:r>
          </a:p>
        </p:txBody>
      </p:sp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98461" y="1693392"/>
            <a:ext cx="114244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 - 1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078233" y="1693392"/>
            <a:ext cx="7614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98461" y="3221100"/>
            <a:ext cx="6527766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CurrentDateTime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'20220101'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[Month]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'2022-07-14 15:46:19.277'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[Month]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078233" y="2889154"/>
            <a:ext cx="7614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98461" y="2889154"/>
            <a:ext cx="114244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 - 2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F37C29-4F71-3147-8D41-F217E6D0A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233" y="2022381"/>
            <a:ext cx="3046980" cy="61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BF6C00-EB79-6B1F-6575-CEA10FF335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233" y="3213132"/>
            <a:ext cx="3671997" cy="61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A60A8E-584C-918B-10FB-8C7EC22F54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233" y="4601424"/>
            <a:ext cx="4787195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83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3" grpId="0"/>
      <p:bldP spid="14" grpId="0" animBg="1"/>
      <p:bldP spid="17" grpId="0" animBg="1"/>
      <p:bldP spid="18" grpId="0" animBg="1"/>
      <p:bldP spid="19" grpId="0" animBg="1"/>
      <p:bldP spid="21" grpId="0" animBg="1"/>
      <p:bldP spid="23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&amp; Time Functions | YEAR 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98460" y="4575022"/>
            <a:ext cx="6527765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CurrentDateTime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[Year]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'20220101'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[Year]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'2022-07-14 15:46:19.277'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[Year]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98461" y="4245838"/>
            <a:ext cx="114244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 - 3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1179" y="855719"/>
            <a:ext cx="10251525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()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: </a:t>
            </a:r>
            <a:r>
              <a:rPr lang="en-US" dirty="0"/>
              <a:t>The date function YEAR </a:t>
            </a:r>
            <a:r>
              <a:rPr lang="en-US" b="1" dirty="0"/>
              <a:t>accepts a date, datetime, or valid date string </a:t>
            </a:r>
            <a:r>
              <a:rPr lang="en-US" dirty="0"/>
              <a:t>and returns the </a:t>
            </a:r>
            <a:r>
              <a:rPr lang="en-US" b="1" dirty="0">
                <a:solidFill>
                  <a:schemeClr val="tx2"/>
                </a:solidFill>
              </a:rPr>
              <a:t>Year part as    	      an integer value</a:t>
            </a:r>
            <a:r>
              <a:rPr lang="en-US" dirty="0"/>
              <a:t>.</a:t>
            </a:r>
            <a:endParaRPr lang="en-IN" dirty="0">
              <a:solidFill>
                <a:srgbClr val="80808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078233" y="4277212"/>
            <a:ext cx="7614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98460" y="2022576"/>
            <a:ext cx="6527767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CurrentDateTime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[Year]</a:t>
            </a:r>
          </a:p>
        </p:txBody>
      </p:sp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98461" y="1693392"/>
            <a:ext cx="114244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 - 1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078233" y="1693392"/>
            <a:ext cx="7614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98461" y="3221100"/>
            <a:ext cx="6527766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CurrentDateTime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'20220101'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[Year]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'2022-07-14 15:46:19.277'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[Year]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078233" y="2889154"/>
            <a:ext cx="7614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98461" y="2889154"/>
            <a:ext cx="114244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 - 2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B127CF-A2B4-C301-5C23-6FA165059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233" y="2018268"/>
            <a:ext cx="3099917" cy="612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8B019E-3F26-E8ED-16FD-24166CF9D4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232" y="3220399"/>
            <a:ext cx="3645958" cy="612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95C1E1A-4118-D8D2-4424-2FD7E5ADD5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232" y="4597447"/>
            <a:ext cx="427098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2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3" grpId="0"/>
      <p:bldP spid="14" grpId="0" animBg="1"/>
      <p:bldP spid="17" grpId="0" animBg="1"/>
      <p:bldP spid="18" grpId="0" animBg="1"/>
      <p:bldP spid="19" grpId="0" animBg="1"/>
      <p:bldP spid="21" grpId="0" animBg="1"/>
      <p:bldP spid="23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&amp; Time Functions | DATEPART 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1179" y="855719"/>
            <a:ext cx="102515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FF"/>
                </a:solidFill>
                <a:latin typeface="Consolas" panose="020B0609020204030204" pitchFamily="49" charset="0"/>
              </a:rPr>
              <a:t>DATEPART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()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: </a:t>
            </a:r>
            <a:r>
              <a:rPr lang="en-US" dirty="0"/>
              <a:t>It returns an integer corresponding to the datepart specified in DATEPART function.</a:t>
            </a:r>
            <a:endParaRPr lang="en-IN" dirty="0">
              <a:solidFill>
                <a:srgbClr val="808080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98460" y="1682107"/>
            <a:ext cx="6527767" cy="16004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DATEPART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'Year'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DATEPART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'Month'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    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DATEPART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DAY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'Day'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      </a:t>
            </a: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DATEPART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WEEK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'Week'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DATEPART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HOUR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'Hour'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DATEPART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MINUTE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'Minute'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     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DATEPART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SECOND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'Second'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98462" y="1352923"/>
            <a:ext cx="90000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078233" y="1352923"/>
            <a:ext cx="7614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2BCC9E-F3C4-866E-9808-E3822D192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231" y="1682106"/>
            <a:ext cx="900000" cy="422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6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&amp; Time Functions | DATENAME 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1179" y="855719"/>
            <a:ext cx="102515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FF"/>
                </a:solidFill>
                <a:latin typeface="Consolas" panose="020B0609020204030204" pitchFamily="49" charset="0"/>
              </a:rPr>
              <a:t>DATENAME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()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: </a:t>
            </a:r>
            <a:r>
              <a:rPr lang="en-US" dirty="0"/>
              <a:t>It returns a string corresponding to the datepart specified for the given date</a:t>
            </a:r>
            <a:endParaRPr lang="en-IN" dirty="0">
              <a:solidFill>
                <a:srgbClr val="808080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98460" y="1682107"/>
            <a:ext cx="6527767" cy="16004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DATENAME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'Year'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DATENAME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'Month'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    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DATENAME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DAY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'Day'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      </a:t>
            </a: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DATENAME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WEEK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'Week'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DATENAME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HOUR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'Hour'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DATENAME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MINUTE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'Minute'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     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DATENAME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SECOND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'Second'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98462" y="1352923"/>
            <a:ext cx="90000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078233" y="1352923"/>
            <a:ext cx="7614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23D4DB-0CB3-CD59-19FB-3BC51C763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232" y="1682107"/>
            <a:ext cx="900000" cy="437671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D2EAB1-4283-20F6-F589-2A40D1CA6BF9}"/>
              </a:ext>
            </a:extLst>
          </p:cNvPr>
          <p:cNvSpPr/>
          <p:nvPr/>
        </p:nvSpPr>
        <p:spPr>
          <a:xfrm>
            <a:off x="7078232" y="2577830"/>
            <a:ext cx="655257" cy="301557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17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 animBg="1"/>
      <p:bldP spid="18" grpId="0" animBg="1"/>
      <p:bldP spid="19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&amp; Time Functions | EOMONTH 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1179" y="855719"/>
            <a:ext cx="1192409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solidFill>
                  <a:srgbClr val="FF00FF"/>
                </a:solidFill>
                <a:latin typeface="Consolas" panose="020B0609020204030204" pitchFamily="49" charset="0"/>
              </a:rPr>
              <a:t>EOMONTH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()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: 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/>
              <a:t>The date function EOMONTH </a:t>
            </a:r>
            <a:r>
              <a:rPr lang="en-US" b="1" dirty="0"/>
              <a:t>accepts a date, datetime, or valid date string </a:t>
            </a:r>
            <a:r>
              <a:rPr lang="en-US" dirty="0"/>
              <a:t>and returns the end of month date as a datetime.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/>
              <a:t>It can also take an optional offset that basically adds or subtracts months from the current passed date.</a:t>
            </a:r>
            <a:endParaRPr lang="en-IN" dirty="0">
              <a:solidFill>
                <a:srgbClr val="808080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98461" y="2646585"/>
            <a:ext cx="742465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EOMONTH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CurrentDateTime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EOMONTH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'20220701'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EOM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EOMONTH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'March 1, 2022'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EOM</a:t>
            </a:r>
          </a:p>
        </p:txBody>
      </p:sp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98462" y="2317401"/>
            <a:ext cx="114244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 - 1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992635" y="2317401"/>
            <a:ext cx="7614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98461" y="3869359"/>
            <a:ext cx="5204563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EOMONTH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'End Of Current Month'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EOMONTH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(),-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'End Of Previous Month'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EOMONTH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(),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'End Of 3+ Month'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5809263" y="3537413"/>
            <a:ext cx="7614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98461" y="3537413"/>
            <a:ext cx="114244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 - 2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0E17A6-3EDA-E9DC-6ADB-335240150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635" y="2646584"/>
            <a:ext cx="4062639" cy="612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EA2770F-EF68-9B12-EB9D-3A695150C2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263" y="3876033"/>
            <a:ext cx="591166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0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 animBg="1"/>
      <p:bldP spid="18" grpId="0" animBg="1"/>
      <p:bldP spid="19" grpId="0" animBg="1"/>
      <p:bldP spid="21" grpId="0" animBg="1"/>
      <p:bldP spid="23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&amp; Time Functions | DATEADD ()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6658726" cy="39238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31179" y="855719"/>
            <a:ext cx="102515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solidFill>
                  <a:srgbClr val="FF00FF"/>
                </a:solidFill>
                <a:latin typeface="Consolas" panose="020B0609020204030204" pitchFamily="49" charset="0"/>
              </a:rPr>
              <a:t>DATEADD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()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: </a:t>
            </a:r>
            <a:r>
              <a:rPr lang="en-US" dirty="0"/>
              <a:t>It returns datepart with added interval as a datetime.</a:t>
            </a:r>
            <a:endParaRPr lang="en-IN" dirty="0">
              <a:solidFill>
                <a:srgbClr val="80808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267EDDA-FF24-1989-6699-4B7A7B721C7D}"/>
              </a:ext>
            </a:extLst>
          </p:cNvPr>
          <p:cNvGraphicFramePr>
            <a:graphicFrameLocks noGrp="1"/>
          </p:cNvGraphicFramePr>
          <p:nvPr/>
        </p:nvGraphicFramePr>
        <p:xfrm>
          <a:off x="202126" y="1657456"/>
          <a:ext cx="11240314" cy="72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465">
                  <a:extLst>
                    <a:ext uri="{9D8B030D-6E8A-4147-A177-3AD203B41FA5}">
                      <a16:colId xmlns:a16="http://schemas.microsoft.com/office/drawing/2014/main" val="1785440712"/>
                    </a:ext>
                  </a:extLst>
                </a:gridCol>
                <a:gridCol w="7704307">
                  <a:extLst>
                    <a:ext uri="{9D8B030D-6E8A-4147-A177-3AD203B41FA5}">
                      <a16:colId xmlns:a16="http://schemas.microsoft.com/office/drawing/2014/main" val="25962218"/>
                    </a:ext>
                  </a:extLst>
                </a:gridCol>
                <a:gridCol w="2580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750" b="1" dirty="0"/>
                        <a:t>Datepart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Query</a:t>
                      </a:r>
                      <a:endParaRPr lang="en-US" sz="1750" b="1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</a:t>
                      </a:r>
                      <a:endParaRPr lang="en-US" sz="1750" b="1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981149"/>
                  </a:ext>
                </a:extLst>
              </a:tr>
              <a:tr h="360000">
                <a:tc gridSpan="3">
                  <a:txBody>
                    <a:bodyPr/>
                    <a:lstStyle/>
                    <a:p>
                      <a:pPr algn="l"/>
                      <a:r>
                        <a:rPr lang="en-GB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DateGroup</a:t>
                      </a:r>
                      <a:r>
                        <a:rPr lang="en-GB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D</a:t>
                      </a:r>
                      <a:r>
                        <a:rPr lang="en-IN" b="1" dirty="0"/>
                        <a:t>ay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4312518"/>
                  </a:ext>
                </a:extLst>
              </a:tr>
            </a:tbl>
          </a:graphicData>
        </a:graphic>
      </p:graphicFrame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CD91C41C-8AF5-E5EA-AF59-B100830EB102}"/>
              </a:ext>
            </a:extLst>
          </p:cNvPr>
          <p:cNvSpPr/>
          <p:nvPr/>
        </p:nvSpPr>
        <p:spPr>
          <a:xfrm>
            <a:off x="202126" y="1328272"/>
            <a:ext cx="926283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662EDF-3990-3D63-09E7-465DB409DD95}"/>
              </a:ext>
            </a:extLst>
          </p:cNvPr>
          <p:cNvSpPr/>
          <p:nvPr/>
        </p:nvSpPr>
        <p:spPr>
          <a:xfrm>
            <a:off x="9737387" y="2383277"/>
            <a:ext cx="262647" cy="106517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242BCB-2A76-98F1-5C35-589A8BE3A012}"/>
              </a:ext>
            </a:extLst>
          </p:cNvPr>
          <p:cNvSpPr/>
          <p:nvPr/>
        </p:nvSpPr>
        <p:spPr>
          <a:xfrm>
            <a:off x="9445556" y="3859811"/>
            <a:ext cx="262647" cy="106517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2603D4-5713-3CE5-6F29-73A51B5D1404}"/>
              </a:ext>
            </a:extLst>
          </p:cNvPr>
          <p:cNvSpPr/>
          <p:nvPr/>
        </p:nvSpPr>
        <p:spPr>
          <a:xfrm>
            <a:off x="8907293" y="5321941"/>
            <a:ext cx="538263" cy="106517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A61450F-277E-C307-E176-00D12F5FA0E7}"/>
              </a:ext>
            </a:extLst>
          </p:cNvPr>
          <p:cNvGraphicFramePr>
            <a:graphicFrameLocks noGrp="1"/>
          </p:cNvGraphicFramePr>
          <p:nvPr/>
        </p:nvGraphicFramePr>
        <p:xfrm>
          <a:off x="202126" y="2383216"/>
          <a:ext cx="1124031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465">
                  <a:extLst>
                    <a:ext uri="{9D8B030D-6E8A-4147-A177-3AD203B41FA5}">
                      <a16:colId xmlns:a16="http://schemas.microsoft.com/office/drawing/2014/main" val="978297475"/>
                    </a:ext>
                  </a:extLst>
                </a:gridCol>
                <a:gridCol w="7704307">
                  <a:extLst>
                    <a:ext uri="{9D8B030D-6E8A-4147-A177-3AD203B41FA5}">
                      <a16:colId xmlns:a16="http://schemas.microsoft.com/office/drawing/2014/main" val="2544107614"/>
                    </a:ext>
                  </a:extLst>
                </a:gridCol>
                <a:gridCol w="2580542">
                  <a:extLst>
                    <a:ext uri="{9D8B030D-6E8A-4147-A177-3AD203B41FA5}">
                      <a16:colId xmlns:a16="http://schemas.microsoft.com/office/drawing/2014/main" val="30474297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d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DATEADD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d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1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'2022-07-14 15:15:20'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ADDEDDATE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2022-07-15 15:15:20.000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883065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AD895B-9E34-4FCB-7001-3FA1DF071F07}"/>
              </a:ext>
            </a:extLst>
          </p:cNvPr>
          <p:cNvGraphicFramePr>
            <a:graphicFrameLocks noGrp="1"/>
          </p:cNvGraphicFramePr>
          <p:nvPr/>
        </p:nvGraphicFramePr>
        <p:xfrm>
          <a:off x="202126" y="2748976"/>
          <a:ext cx="1124031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465">
                  <a:extLst>
                    <a:ext uri="{9D8B030D-6E8A-4147-A177-3AD203B41FA5}">
                      <a16:colId xmlns:a16="http://schemas.microsoft.com/office/drawing/2014/main" val="713463280"/>
                    </a:ext>
                  </a:extLst>
                </a:gridCol>
                <a:gridCol w="7704307">
                  <a:extLst>
                    <a:ext uri="{9D8B030D-6E8A-4147-A177-3AD203B41FA5}">
                      <a16:colId xmlns:a16="http://schemas.microsoft.com/office/drawing/2014/main" val="3170846000"/>
                    </a:ext>
                  </a:extLst>
                </a:gridCol>
                <a:gridCol w="2580542">
                  <a:extLst>
                    <a:ext uri="{9D8B030D-6E8A-4147-A177-3AD203B41FA5}">
                      <a16:colId xmlns:a16="http://schemas.microsoft.com/office/drawing/2014/main" val="39484367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dd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DATEADD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dd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1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'2022-07-14 15:15:20'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ADDEDDATE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2022-07-15 15:15:20.000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86034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BC78F2-3C81-03E1-99EF-E1EA58B0F066}"/>
              </a:ext>
            </a:extLst>
          </p:cNvPr>
          <p:cNvGraphicFramePr>
            <a:graphicFrameLocks noGrp="1"/>
          </p:cNvGraphicFramePr>
          <p:nvPr/>
        </p:nvGraphicFramePr>
        <p:xfrm>
          <a:off x="202126" y="3108976"/>
          <a:ext cx="1124031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465">
                  <a:extLst>
                    <a:ext uri="{9D8B030D-6E8A-4147-A177-3AD203B41FA5}">
                      <a16:colId xmlns:a16="http://schemas.microsoft.com/office/drawing/2014/main" val="3475378179"/>
                    </a:ext>
                  </a:extLst>
                </a:gridCol>
                <a:gridCol w="7704307">
                  <a:extLst>
                    <a:ext uri="{9D8B030D-6E8A-4147-A177-3AD203B41FA5}">
                      <a16:colId xmlns:a16="http://schemas.microsoft.com/office/drawing/2014/main" val="3194369090"/>
                    </a:ext>
                  </a:extLst>
                </a:gridCol>
                <a:gridCol w="2580542">
                  <a:extLst>
                    <a:ext uri="{9D8B030D-6E8A-4147-A177-3AD203B41FA5}">
                      <a16:colId xmlns:a16="http://schemas.microsoft.com/office/drawing/2014/main" val="11367411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day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DATEADD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700" kern="12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day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1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'2022-07-14 15:15:20'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ADDEDDATE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2022-07-15 15:15:20.000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468092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1E2202-88C5-C97E-7B34-24E1D7C2D160}"/>
              </a:ext>
            </a:extLst>
          </p:cNvPr>
          <p:cNvGraphicFramePr>
            <a:graphicFrameLocks noGrp="1"/>
          </p:cNvGraphicFramePr>
          <p:nvPr/>
        </p:nvGraphicFramePr>
        <p:xfrm>
          <a:off x="202126" y="3474736"/>
          <a:ext cx="1124031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40314">
                  <a:extLst>
                    <a:ext uri="{9D8B030D-6E8A-4147-A177-3AD203B41FA5}">
                      <a16:colId xmlns:a16="http://schemas.microsoft.com/office/drawing/2014/main" val="385911539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DateGroup</a:t>
                      </a:r>
                      <a:r>
                        <a:rPr lang="en-GB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en-IN" b="1" dirty="0"/>
                        <a:t>Month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63719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AB156A-24D1-9C80-262F-EC076893CC32}"/>
              </a:ext>
            </a:extLst>
          </p:cNvPr>
          <p:cNvGraphicFramePr>
            <a:graphicFrameLocks noGrp="1"/>
          </p:cNvGraphicFramePr>
          <p:nvPr/>
        </p:nvGraphicFramePr>
        <p:xfrm>
          <a:off x="202126" y="3834736"/>
          <a:ext cx="1124031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465">
                  <a:extLst>
                    <a:ext uri="{9D8B030D-6E8A-4147-A177-3AD203B41FA5}">
                      <a16:colId xmlns:a16="http://schemas.microsoft.com/office/drawing/2014/main" val="3718089566"/>
                    </a:ext>
                  </a:extLst>
                </a:gridCol>
                <a:gridCol w="7704307">
                  <a:extLst>
                    <a:ext uri="{9D8B030D-6E8A-4147-A177-3AD203B41FA5}">
                      <a16:colId xmlns:a16="http://schemas.microsoft.com/office/drawing/2014/main" val="390134108"/>
                    </a:ext>
                  </a:extLst>
                </a:gridCol>
                <a:gridCol w="2580542">
                  <a:extLst>
                    <a:ext uri="{9D8B030D-6E8A-4147-A177-3AD203B41FA5}">
                      <a16:colId xmlns:a16="http://schemas.microsoft.com/office/drawing/2014/main" val="9756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DATEADD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m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1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'2022-07-14 15:15:20'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ADDEDMONTH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2022-08-14 15:15:20.000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598428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39668DC-F3DD-09AC-59BB-439599B04BCF}"/>
              </a:ext>
            </a:extLst>
          </p:cNvPr>
          <p:cNvGraphicFramePr>
            <a:graphicFrameLocks noGrp="1"/>
          </p:cNvGraphicFramePr>
          <p:nvPr/>
        </p:nvGraphicFramePr>
        <p:xfrm>
          <a:off x="202126" y="4192560"/>
          <a:ext cx="1124031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465">
                  <a:extLst>
                    <a:ext uri="{9D8B030D-6E8A-4147-A177-3AD203B41FA5}">
                      <a16:colId xmlns:a16="http://schemas.microsoft.com/office/drawing/2014/main" val="3653572306"/>
                    </a:ext>
                  </a:extLst>
                </a:gridCol>
                <a:gridCol w="7704307">
                  <a:extLst>
                    <a:ext uri="{9D8B030D-6E8A-4147-A177-3AD203B41FA5}">
                      <a16:colId xmlns:a16="http://schemas.microsoft.com/office/drawing/2014/main" val="1264089077"/>
                    </a:ext>
                  </a:extLst>
                </a:gridCol>
                <a:gridCol w="2580542">
                  <a:extLst>
                    <a:ext uri="{9D8B030D-6E8A-4147-A177-3AD203B41FA5}">
                      <a16:colId xmlns:a16="http://schemas.microsoft.com/office/drawing/2014/main" val="144728642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US" dirty="0"/>
                        <a:t>mm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DATEADD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mm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1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'2022-07-14 15:15:20'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ADDEDMONTH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2022-08-14 15:15:20.000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80070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3CE5762-AB23-852E-938A-C7CCD70444A6}"/>
              </a:ext>
            </a:extLst>
          </p:cNvPr>
          <p:cNvGraphicFramePr>
            <a:graphicFrameLocks noGrp="1"/>
          </p:cNvGraphicFramePr>
          <p:nvPr/>
        </p:nvGraphicFramePr>
        <p:xfrm>
          <a:off x="202126" y="4560496"/>
          <a:ext cx="1124031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465">
                  <a:extLst>
                    <a:ext uri="{9D8B030D-6E8A-4147-A177-3AD203B41FA5}">
                      <a16:colId xmlns:a16="http://schemas.microsoft.com/office/drawing/2014/main" val="405226092"/>
                    </a:ext>
                  </a:extLst>
                </a:gridCol>
                <a:gridCol w="7704307">
                  <a:extLst>
                    <a:ext uri="{9D8B030D-6E8A-4147-A177-3AD203B41FA5}">
                      <a16:colId xmlns:a16="http://schemas.microsoft.com/office/drawing/2014/main" val="4083694410"/>
                    </a:ext>
                  </a:extLst>
                </a:gridCol>
                <a:gridCol w="2580542">
                  <a:extLst>
                    <a:ext uri="{9D8B030D-6E8A-4147-A177-3AD203B41FA5}">
                      <a16:colId xmlns:a16="http://schemas.microsoft.com/office/drawing/2014/main" val="225430488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US" dirty="0"/>
                        <a:t>month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DATEADD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700" kern="12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month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1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'2022-07-14 15:15:20'</a:t>
                      </a:r>
                      <a:r>
                        <a:rPr lang="en-US" sz="17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17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ADDEDMONTH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2022-08-14 15:15:20.000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34688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CAA425C-AE9E-6B9D-DCA0-A84B5E968A2D}"/>
              </a:ext>
            </a:extLst>
          </p:cNvPr>
          <p:cNvGraphicFramePr>
            <a:graphicFrameLocks noGrp="1"/>
          </p:cNvGraphicFramePr>
          <p:nvPr/>
        </p:nvGraphicFramePr>
        <p:xfrm>
          <a:off x="202126" y="4924990"/>
          <a:ext cx="1124031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40314">
                  <a:extLst>
                    <a:ext uri="{9D8B030D-6E8A-4147-A177-3AD203B41FA5}">
                      <a16:colId xmlns:a16="http://schemas.microsoft.com/office/drawing/2014/main" val="6221511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DateGroup</a:t>
                      </a:r>
                      <a:r>
                        <a:rPr lang="en-GB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en-IN" b="1" dirty="0"/>
                        <a:t>Year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141013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67A5C74-AD97-8B1D-9A52-BE7867A255DB}"/>
              </a:ext>
            </a:extLst>
          </p:cNvPr>
          <p:cNvGraphicFramePr>
            <a:graphicFrameLocks noGrp="1"/>
          </p:cNvGraphicFramePr>
          <p:nvPr/>
        </p:nvGraphicFramePr>
        <p:xfrm>
          <a:off x="202126" y="5289484"/>
          <a:ext cx="1124031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465">
                  <a:extLst>
                    <a:ext uri="{9D8B030D-6E8A-4147-A177-3AD203B41FA5}">
                      <a16:colId xmlns:a16="http://schemas.microsoft.com/office/drawing/2014/main" val="2154273548"/>
                    </a:ext>
                  </a:extLst>
                </a:gridCol>
                <a:gridCol w="7704307">
                  <a:extLst>
                    <a:ext uri="{9D8B030D-6E8A-4147-A177-3AD203B41FA5}">
                      <a16:colId xmlns:a16="http://schemas.microsoft.com/office/drawing/2014/main" val="2492506119"/>
                    </a:ext>
                  </a:extLst>
                </a:gridCol>
                <a:gridCol w="2580542">
                  <a:extLst>
                    <a:ext uri="{9D8B030D-6E8A-4147-A177-3AD203B41FA5}">
                      <a16:colId xmlns:a16="http://schemas.microsoft.com/office/drawing/2014/main" val="37759837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US" dirty="0" err="1"/>
                        <a:t>yy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DATEADD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dirty="0" err="1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yy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1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'2022-07-14 15:15:20'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ADDEDYEAR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2023-07-14 15:15:20.000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63239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1C3E91F-E7EB-9E84-5567-0D08DFDCFB38}"/>
              </a:ext>
            </a:extLst>
          </p:cNvPr>
          <p:cNvGraphicFramePr>
            <a:graphicFrameLocks noGrp="1"/>
          </p:cNvGraphicFramePr>
          <p:nvPr/>
        </p:nvGraphicFramePr>
        <p:xfrm>
          <a:off x="202126" y="5652712"/>
          <a:ext cx="1124031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465">
                  <a:extLst>
                    <a:ext uri="{9D8B030D-6E8A-4147-A177-3AD203B41FA5}">
                      <a16:colId xmlns:a16="http://schemas.microsoft.com/office/drawing/2014/main" val="832824358"/>
                    </a:ext>
                  </a:extLst>
                </a:gridCol>
                <a:gridCol w="7704307">
                  <a:extLst>
                    <a:ext uri="{9D8B030D-6E8A-4147-A177-3AD203B41FA5}">
                      <a16:colId xmlns:a16="http://schemas.microsoft.com/office/drawing/2014/main" val="198325493"/>
                    </a:ext>
                  </a:extLst>
                </a:gridCol>
                <a:gridCol w="2580542">
                  <a:extLst>
                    <a:ext uri="{9D8B030D-6E8A-4147-A177-3AD203B41FA5}">
                      <a16:colId xmlns:a16="http://schemas.microsoft.com/office/drawing/2014/main" val="3979827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US" dirty="0" err="1"/>
                        <a:t>yyyy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DATEADD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dirty="0" err="1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yyyy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1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'2022-07-14 15:15:20'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ADDEDYEAR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2023-07-14 15:15:20.000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03330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F9136DC-E834-04C7-9D57-89910CD605B0}"/>
              </a:ext>
            </a:extLst>
          </p:cNvPr>
          <p:cNvGraphicFramePr>
            <a:graphicFrameLocks noGrp="1"/>
          </p:cNvGraphicFramePr>
          <p:nvPr/>
        </p:nvGraphicFramePr>
        <p:xfrm>
          <a:off x="202126" y="6013075"/>
          <a:ext cx="1124031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465">
                  <a:extLst>
                    <a:ext uri="{9D8B030D-6E8A-4147-A177-3AD203B41FA5}">
                      <a16:colId xmlns:a16="http://schemas.microsoft.com/office/drawing/2014/main" val="3330664241"/>
                    </a:ext>
                  </a:extLst>
                </a:gridCol>
                <a:gridCol w="7704307">
                  <a:extLst>
                    <a:ext uri="{9D8B030D-6E8A-4147-A177-3AD203B41FA5}">
                      <a16:colId xmlns:a16="http://schemas.microsoft.com/office/drawing/2014/main" val="1131446907"/>
                    </a:ext>
                  </a:extLst>
                </a:gridCol>
                <a:gridCol w="2580542">
                  <a:extLst>
                    <a:ext uri="{9D8B030D-6E8A-4147-A177-3AD203B41FA5}">
                      <a16:colId xmlns:a16="http://schemas.microsoft.com/office/drawing/2014/main" val="218749846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DATEADD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kern="12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year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1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'2022-07-14 15:15:20'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ADDEDYEAR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2023-07-14 15:15:20.000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6445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2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 animBg="1"/>
      <p:bldP spid="5" grpId="0" animBg="1"/>
      <p:bldP spid="22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31179" y="855719"/>
            <a:ext cx="102515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solidFill>
                  <a:srgbClr val="FF00FF"/>
                </a:solidFill>
                <a:latin typeface="Consolas" panose="020B0609020204030204" pitchFamily="49" charset="0"/>
              </a:rPr>
              <a:t>DATEDIFF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()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: 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/>
              <a:t>It gets the difference between two dates with the results returned in date units specified as years, months days, minutes, seconds as an integer value.</a:t>
            </a:r>
            <a:endParaRPr lang="en-IN" dirty="0">
              <a:solidFill>
                <a:srgbClr val="80808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267EDDA-FF24-1989-6699-4B7A7B721C7D}"/>
              </a:ext>
            </a:extLst>
          </p:cNvPr>
          <p:cNvGraphicFramePr>
            <a:graphicFrameLocks noGrp="1"/>
          </p:cNvGraphicFramePr>
          <p:nvPr/>
        </p:nvGraphicFramePr>
        <p:xfrm>
          <a:off x="202126" y="2163294"/>
          <a:ext cx="11240314" cy="72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465">
                  <a:extLst>
                    <a:ext uri="{9D8B030D-6E8A-4147-A177-3AD203B41FA5}">
                      <a16:colId xmlns:a16="http://schemas.microsoft.com/office/drawing/2014/main" val="1785440712"/>
                    </a:ext>
                  </a:extLst>
                </a:gridCol>
                <a:gridCol w="8550613">
                  <a:extLst>
                    <a:ext uri="{9D8B030D-6E8A-4147-A177-3AD203B41FA5}">
                      <a16:colId xmlns:a16="http://schemas.microsoft.com/office/drawing/2014/main" val="25962218"/>
                    </a:ext>
                  </a:extLst>
                </a:gridCol>
                <a:gridCol w="1734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750" b="1" dirty="0" err="1"/>
                        <a:t>DiffPart</a:t>
                      </a:r>
                      <a:endParaRPr lang="en-US" sz="1750" b="1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Query</a:t>
                      </a:r>
                      <a:endParaRPr lang="en-US" sz="1750" b="1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</a:t>
                      </a:r>
                      <a:endParaRPr lang="en-US" sz="1750" b="1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9811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Minutes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DATEDIFF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MINUTE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'2022-07-13'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'2022-07-14'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1440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72625"/>
                  </a:ext>
                </a:extLst>
              </a:tr>
            </a:tbl>
          </a:graphicData>
        </a:graphic>
      </p:graphicFrame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CD91C41C-8AF5-E5EA-AF59-B100830EB102}"/>
              </a:ext>
            </a:extLst>
          </p:cNvPr>
          <p:cNvSpPr/>
          <p:nvPr/>
        </p:nvSpPr>
        <p:spPr>
          <a:xfrm>
            <a:off x="202126" y="1834110"/>
            <a:ext cx="926283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EFD954-3236-5D34-A6D6-D03510064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&amp; Time Functions | DATEDIFF ()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D27209-0B34-648E-C241-97AAB7225F43}"/>
              </a:ext>
            </a:extLst>
          </p:cNvPr>
          <p:cNvGraphicFramePr>
            <a:graphicFrameLocks noGrp="1"/>
          </p:cNvGraphicFramePr>
          <p:nvPr/>
        </p:nvGraphicFramePr>
        <p:xfrm>
          <a:off x="202126" y="2889054"/>
          <a:ext cx="1124031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465">
                  <a:extLst>
                    <a:ext uri="{9D8B030D-6E8A-4147-A177-3AD203B41FA5}">
                      <a16:colId xmlns:a16="http://schemas.microsoft.com/office/drawing/2014/main" val="1069867408"/>
                    </a:ext>
                  </a:extLst>
                </a:gridCol>
                <a:gridCol w="8550613">
                  <a:extLst>
                    <a:ext uri="{9D8B030D-6E8A-4147-A177-3AD203B41FA5}">
                      <a16:colId xmlns:a16="http://schemas.microsoft.com/office/drawing/2014/main" val="2547946156"/>
                    </a:ext>
                  </a:extLst>
                </a:gridCol>
                <a:gridCol w="1734236">
                  <a:extLst>
                    <a:ext uri="{9D8B030D-6E8A-4147-A177-3AD203B41FA5}">
                      <a16:colId xmlns:a16="http://schemas.microsoft.com/office/drawing/2014/main" val="188771229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Hours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DATEDIFF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HOUR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'2022-07-13'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'2022-07-14'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372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3BC7693-85E2-CC75-00EE-D544F944E301}"/>
              </a:ext>
            </a:extLst>
          </p:cNvPr>
          <p:cNvGraphicFramePr>
            <a:graphicFrameLocks noGrp="1"/>
          </p:cNvGraphicFramePr>
          <p:nvPr/>
        </p:nvGraphicFramePr>
        <p:xfrm>
          <a:off x="202126" y="3252992"/>
          <a:ext cx="1124031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465">
                  <a:extLst>
                    <a:ext uri="{9D8B030D-6E8A-4147-A177-3AD203B41FA5}">
                      <a16:colId xmlns:a16="http://schemas.microsoft.com/office/drawing/2014/main" val="3136999241"/>
                    </a:ext>
                  </a:extLst>
                </a:gridCol>
                <a:gridCol w="8550613">
                  <a:extLst>
                    <a:ext uri="{9D8B030D-6E8A-4147-A177-3AD203B41FA5}">
                      <a16:colId xmlns:a16="http://schemas.microsoft.com/office/drawing/2014/main" val="1240897674"/>
                    </a:ext>
                  </a:extLst>
                </a:gridCol>
                <a:gridCol w="1734236">
                  <a:extLst>
                    <a:ext uri="{9D8B030D-6E8A-4147-A177-3AD203B41FA5}">
                      <a16:colId xmlns:a16="http://schemas.microsoft.com/office/drawing/2014/main" val="30932434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Days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DATEDIFF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DAY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'2022-07-01'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'2022-07-14'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0399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01B5EF-A8B3-44E3-4A9B-C9826219D835}"/>
              </a:ext>
            </a:extLst>
          </p:cNvPr>
          <p:cNvGraphicFramePr>
            <a:graphicFrameLocks noGrp="1"/>
          </p:cNvGraphicFramePr>
          <p:nvPr/>
        </p:nvGraphicFramePr>
        <p:xfrm>
          <a:off x="202126" y="3614814"/>
          <a:ext cx="1124031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465">
                  <a:extLst>
                    <a:ext uri="{9D8B030D-6E8A-4147-A177-3AD203B41FA5}">
                      <a16:colId xmlns:a16="http://schemas.microsoft.com/office/drawing/2014/main" val="784289672"/>
                    </a:ext>
                  </a:extLst>
                </a:gridCol>
                <a:gridCol w="8550613">
                  <a:extLst>
                    <a:ext uri="{9D8B030D-6E8A-4147-A177-3AD203B41FA5}">
                      <a16:colId xmlns:a16="http://schemas.microsoft.com/office/drawing/2014/main" val="2126364920"/>
                    </a:ext>
                  </a:extLst>
                </a:gridCol>
                <a:gridCol w="1734236">
                  <a:extLst>
                    <a:ext uri="{9D8B030D-6E8A-4147-A177-3AD203B41FA5}">
                      <a16:colId xmlns:a16="http://schemas.microsoft.com/office/drawing/2014/main" val="143728714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Months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DATEDIFF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MONTH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'2022-07-01'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'2022-08-14'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5249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CF6930-979F-1984-497C-89FF2304EC45}"/>
              </a:ext>
            </a:extLst>
          </p:cNvPr>
          <p:cNvGraphicFramePr>
            <a:graphicFrameLocks noGrp="1"/>
          </p:cNvGraphicFramePr>
          <p:nvPr/>
        </p:nvGraphicFramePr>
        <p:xfrm>
          <a:off x="202126" y="3984062"/>
          <a:ext cx="1124031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465">
                  <a:extLst>
                    <a:ext uri="{9D8B030D-6E8A-4147-A177-3AD203B41FA5}">
                      <a16:colId xmlns:a16="http://schemas.microsoft.com/office/drawing/2014/main" val="3667163563"/>
                    </a:ext>
                  </a:extLst>
                </a:gridCol>
                <a:gridCol w="8550613">
                  <a:extLst>
                    <a:ext uri="{9D8B030D-6E8A-4147-A177-3AD203B41FA5}">
                      <a16:colId xmlns:a16="http://schemas.microsoft.com/office/drawing/2014/main" val="1638758465"/>
                    </a:ext>
                  </a:extLst>
                </a:gridCol>
                <a:gridCol w="1734236">
                  <a:extLst>
                    <a:ext uri="{9D8B030D-6E8A-4147-A177-3AD203B41FA5}">
                      <a16:colId xmlns:a16="http://schemas.microsoft.com/office/drawing/2014/main" val="297751234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Years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DATEDIFF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YEAR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'2022-07-01'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'2025-08-14'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1566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77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&amp; Time Functions | ISDATE 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1179" y="855719"/>
            <a:ext cx="102515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solidFill>
                  <a:srgbClr val="FF00FF"/>
                </a:solidFill>
                <a:latin typeface="Consolas" panose="020B0609020204030204" pitchFamily="49" charset="0"/>
              </a:rPr>
              <a:t>ISDATE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()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: 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/>
              <a:t>To check a string to see if it is a valid Date or Datetime field. 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/>
              <a:t>ISDATE return 1 if true or 0 if false.</a:t>
            </a:r>
            <a:endParaRPr lang="en-IN" dirty="0">
              <a:solidFill>
                <a:srgbClr val="80808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267EDDA-FF24-1989-6699-4B7A7B721C7D}"/>
              </a:ext>
            </a:extLst>
          </p:cNvPr>
          <p:cNvGraphicFramePr>
            <a:graphicFrameLocks noGrp="1"/>
          </p:cNvGraphicFramePr>
          <p:nvPr/>
        </p:nvGraphicFramePr>
        <p:xfrm>
          <a:off x="202126" y="2231390"/>
          <a:ext cx="10284849" cy="72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50613">
                  <a:extLst>
                    <a:ext uri="{9D8B030D-6E8A-4147-A177-3AD203B41FA5}">
                      <a16:colId xmlns:a16="http://schemas.microsoft.com/office/drawing/2014/main" val="25962218"/>
                    </a:ext>
                  </a:extLst>
                </a:gridCol>
                <a:gridCol w="1734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IN" sz="17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Query</a:t>
                      </a:r>
                      <a:endParaRPr lang="en-US" sz="1750" b="1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5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</a:t>
                      </a:r>
                      <a:endParaRPr lang="en-US" sz="1750" b="1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9811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ISDATE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'20220101'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'Valid'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72625"/>
                  </a:ext>
                </a:extLst>
              </a:tr>
            </a:tbl>
          </a:graphicData>
        </a:graphic>
      </p:graphicFrame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CD91C41C-8AF5-E5EA-AF59-B100830EB102}"/>
              </a:ext>
            </a:extLst>
          </p:cNvPr>
          <p:cNvSpPr/>
          <p:nvPr/>
        </p:nvSpPr>
        <p:spPr>
          <a:xfrm>
            <a:off x="202126" y="1902206"/>
            <a:ext cx="926283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588383-B7A2-5803-F996-8D90BB83A115}"/>
              </a:ext>
            </a:extLst>
          </p:cNvPr>
          <p:cNvGraphicFramePr>
            <a:graphicFrameLocks noGrp="1"/>
          </p:cNvGraphicFramePr>
          <p:nvPr/>
        </p:nvGraphicFramePr>
        <p:xfrm>
          <a:off x="202125" y="2957150"/>
          <a:ext cx="10284849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50613">
                  <a:extLst>
                    <a:ext uri="{9D8B030D-6E8A-4147-A177-3AD203B41FA5}">
                      <a16:colId xmlns:a16="http://schemas.microsoft.com/office/drawing/2014/main" val="2167237504"/>
                    </a:ext>
                  </a:extLst>
                </a:gridCol>
                <a:gridCol w="1734236">
                  <a:extLst>
                    <a:ext uri="{9D8B030D-6E8A-4147-A177-3AD203B41FA5}">
                      <a16:colId xmlns:a16="http://schemas.microsoft.com/office/drawing/2014/main" val="82065323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ISDATE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'01/01/22'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'Valid'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333882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93A68B-A6E9-7CF9-AB9D-0D9D17572844}"/>
              </a:ext>
            </a:extLst>
          </p:cNvPr>
          <p:cNvGraphicFramePr>
            <a:graphicFrameLocks noGrp="1"/>
          </p:cNvGraphicFramePr>
          <p:nvPr/>
        </p:nvGraphicFramePr>
        <p:xfrm>
          <a:off x="202125" y="3330635"/>
          <a:ext cx="10284849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50613">
                  <a:extLst>
                    <a:ext uri="{9D8B030D-6E8A-4147-A177-3AD203B41FA5}">
                      <a16:colId xmlns:a16="http://schemas.microsoft.com/office/drawing/2014/main" val="3510296191"/>
                    </a:ext>
                  </a:extLst>
                </a:gridCol>
                <a:gridCol w="1734236">
                  <a:extLst>
                    <a:ext uri="{9D8B030D-6E8A-4147-A177-3AD203B41FA5}">
                      <a16:colId xmlns:a16="http://schemas.microsoft.com/office/drawing/2014/main" val="6979918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ISDATE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'13/01/2022'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'Not Valid'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30874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84DACE-6069-4E13-707C-4AE6E7AD46AE}"/>
              </a:ext>
            </a:extLst>
          </p:cNvPr>
          <p:cNvGraphicFramePr>
            <a:graphicFrameLocks noGrp="1"/>
          </p:cNvGraphicFramePr>
          <p:nvPr/>
        </p:nvGraphicFramePr>
        <p:xfrm>
          <a:off x="202125" y="3700440"/>
          <a:ext cx="10284849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50613">
                  <a:extLst>
                    <a:ext uri="{9D8B030D-6E8A-4147-A177-3AD203B41FA5}">
                      <a16:colId xmlns:a16="http://schemas.microsoft.com/office/drawing/2014/main" val="1812315069"/>
                    </a:ext>
                  </a:extLst>
                </a:gridCol>
                <a:gridCol w="1734236">
                  <a:extLst>
                    <a:ext uri="{9D8B030D-6E8A-4147-A177-3AD203B41FA5}">
                      <a16:colId xmlns:a16="http://schemas.microsoft.com/office/drawing/2014/main" val="407713818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ISDATE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'Valid'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413836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8B6E47-6EB7-6955-B632-14008BE27037}"/>
              </a:ext>
            </a:extLst>
          </p:cNvPr>
          <p:cNvGraphicFramePr>
            <a:graphicFrameLocks noGrp="1"/>
          </p:cNvGraphicFramePr>
          <p:nvPr/>
        </p:nvGraphicFramePr>
        <p:xfrm>
          <a:off x="202125" y="4068306"/>
          <a:ext cx="10284849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50613">
                  <a:extLst>
                    <a:ext uri="{9D8B030D-6E8A-4147-A177-3AD203B41FA5}">
                      <a16:colId xmlns:a16="http://schemas.microsoft.com/office/drawing/2014/main" val="1884994189"/>
                    </a:ext>
                  </a:extLst>
                </a:gridCol>
                <a:gridCol w="1734236">
                  <a:extLst>
                    <a:ext uri="{9D8B030D-6E8A-4147-A177-3AD203B41FA5}">
                      <a16:colId xmlns:a16="http://schemas.microsoft.com/office/drawing/2014/main" val="41022213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ISDATE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'2022-13-01'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18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'Not Valid'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287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2932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19049</TotalTime>
  <Words>1343</Words>
  <Application>Microsoft Office PowerPoint</Application>
  <PresentationFormat>Widescreen</PresentationFormat>
  <Paragraphs>207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Consolas</vt:lpstr>
      <vt:lpstr>Wingdings</vt:lpstr>
      <vt:lpstr>Roboto Condensed</vt:lpstr>
      <vt:lpstr>Calibri</vt:lpstr>
      <vt:lpstr>Arial</vt:lpstr>
      <vt:lpstr>Roboto Condensed Light</vt:lpstr>
      <vt:lpstr>Wingdings 3</vt:lpstr>
      <vt:lpstr>Office Theme</vt:lpstr>
      <vt:lpstr>Date &amp; Time Functions</vt:lpstr>
      <vt:lpstr>Date &amp; Time Functions</vt:lpstr>
      <vt:lpstr>Date &amp; Time Functions | DAY()</vt:lpstr>
      <vt:lpstr>Date &amp; Time Functions | MONTH ()</vt:lpstr>
      <vt:lpstr>Date &amp; Time Functions | YEAR ()</vt:lpstr>
      <vt:lpstr>Date &amp; Time Functions | DATEPART ()</vt:lpstr>
      <vt:lpstr>Date &amp; Time Functions | DATENAME ()</vt:lpstr>
      <vt:lpstr>Date &amp; Time Functions | EOMONTH ()</vt:lpstr>
      <vt:lpstr>Date &amp; Time Functions | DATEADD ()</vt:lpstr>
      <vt:lpstr>Date &amp; Time Functions | DATEDIFF ()</vt:lpstr>
      <vt:lpstr>Date &amp; Time Functions | ISDATE ()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firoz sherasiya</cp:lastModifiedBy>
  <cp:revision>1072</cp:revision>
  <dcterms:created xsi:type="dcterms:W3CDTF">2020-05-01T05:09:15Z</dcterms:created>
  <dcterms:modified xsi:type="dcterms:W3CDTF">2026-08-14T03:57:27Z</dcterms:modified>
</cp:coreProperties>
</file>